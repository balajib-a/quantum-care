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8" r:id="rId2"/>
    <p:sldId id="259" r:id="rId3"/>
    <p:sldId id="260" r:id="rId4"/>
    <p:sldId id="261" r:id="rId5"/>
    <p:sldId id="262" r:id="rId6"/>
    <p:sldId id="263" r:id="rId7"/>
    <p:sldId id="264" r:id="rId8"/>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0" d="100"/>
          <a:sy n="60" d="100"/>
        </p:scale>
        <p:origin x="370" y="3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11250" b="1" i="0">
                <a:solidFill>
                  <a:srgbClr val="201D1D"/>
                </a:solidFill>
                <a:latin typeface="Arial"/>
                <a:cs typeface="Arial"/>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2150" b="0" i="1">
                <a:solidFill>
                  <a:srgbClr val="201D1D"/>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1250" b="1" i="0">
                <a:solidFill>
                  <a:srgbClr val="201D1D"/>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150" b="0" i="1">
                <a:solidFill>
                  <a:srgbClr val="201D1D"/>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1250" b="1" i="0">
                <a:solidFill>
                  <a:srgbClr val="201D1D"/>
                </a:solidFill>
                <a:latin typeface="Arial"/>
                <a:cs typeface="Arial"/>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5/23/2026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1250" b="1" i="0">
                <a:solidFill>
                  <a:srgbClr val="201D1D"/>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5/23/2026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5/23/2026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solidFill>
            <a:srgbClr val="FFFBF2"/>
          </a:solidFill>
        </p:spPr>
        <p:txBody>
          <a:bodyPr wrap="square" lIns="0" tIns="0" rIns="0" bIns="0" rtlCol="0"/>
          <a:lstStyle/>
          <a:p>
            <a:endParaRPr/>
          </a:p>
        </p:txBody>
      </p:sp>
      <p:sp>
        <p:nvSpPr>
          <p:cNvPr id="2" name="Holder 2"/>
          <p:cNvSpPr>
            <a:spLocks noGrp="1"/>
          </p:cNvSpPr>
          <p:nvPr>
            <p:ph type="title"/>
          </p:nvPr>
        </p:nvSpPr>
        <p:spPr>
          <a:xfrm>
            <a:off x="894546" y="390400"/>
            <a:ext cx="15453994" cy="3111500"/>
          </a:xfrm>
          <a:prstGeom prst="rect">
            <a:avLst/>
          </a:prstGeom>
        </p:spPr>
        <p:txBody>
          <a:bodyPr wrap="square" lIns="0" tIns="0" rIns="0" bIns="0">
            <a:spAutoFit/>
          </a:bodyPr>
          <a:lstStyle>
            <a:lvl1pPr>
              <a:defRPr sz="11250" b="1" i="0">
                <a:solidFill>
                  <a:srgbClr val="201D1D"/>
                </a:solidFill>
                <a:latin typeface="Arial"/>
                <a:cs typeface="Arial"/>
              </a:defRPr>
            </a:lvl1pPr>
          </a:lstStyle>
          <a:p>
            <a:endParaRPr/>
          </a:p>
        </p:txBody>
      </p:sp>
      <p:sp>
        <p:nvSpPr>
          <p:cNvPr id="3" name="Holder 3"/>
          <p:cNvSpPr>
            <a:spLocks noGrp="1"/>
          </p:cNvSpPr>
          <p:nvPr>
            <p:ph type="body" idx="1"/>
          </p:nvPr>
        </p:nvSpPr>
        <p:spPr>
          <a:xfrm>
            <a:off x="6771431" y="4984115"/>
            <a:ext cx="9361805" cy="3454400"/>
          </a:xfrm>
          <a:prstGeom prst="rect">
            <a:avLst/>
          </a:prstGeom>
        </p:spPr>
        <p:txBody>
          <a:bodyPr wrap="square" lIns="0" tIns="0" rIns="0" bIns="0">
            <a:spAutoFit/>
          </a:bodyPr>
          <a:lstStyle>
            <a:lvl1pPr>
              <a:defRPr sz="2150" b="0" i="1">
                <a:solidFill>
                  <a:srgbClr val="201D1D"/>
                </a:solidFill>
                <a:latin typeface="Verdana"/>
                <a:cs typeface="Verdana"/>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5/23/2026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152400" y="2095500"/>
            <a:ext cx="18516600" cy="7772400"/>
          </a:xfrm>
          <a:prstGeom prst="rect">
            <a:avLst/>
          </a:prstGeom>
        </p:spPr>
      </p:pic>
      <p:sp>
        <p:nvSpPr>
          <p:cNvPr id="5" name="object 5"/>
          <p:cNvSpPr txBox="1">
            <a:spLocks noGrp="1"/>
          </p:cNvSpPr>
          <p:nvPr>
            <p:ph type="title"/>
          </p:nvPr>
        </p:nvSpPr>
        <p:spPr>
          <a:xfrm>
            <a:off x="570498" y="179656"/>
            <a:ext cx="16193502" cy="1447831"/>
          </a:xfrm>
          <a:prstGeom prst="rect">
            <a:avLst/>
          </a:prstGeom>
        </p:spPr>
        <p:txBody>
          <a:bodyPr vert="horz" wrap="square" lIns="0" tIns="214629" rIns="0" bIns="0" rtlCol="0">
            <a:spAutoFit/>
          </a:bodyPr>
          <a:lstStyle/>
          <a:p>
            <a:pPr marL="12700" marR="5080" algn="ctr">
              <a:lnSpc>
                <a:spcPts val="9600"/>
              </a:lnSpc>
              <a:spcBef>
                <a:spcPts val="1689"/>
              </a:spcBef>
            </a:pPr>
            <a:r>
              <a:rPr sz="9250" spc="180" dirty="0"/>
              <a:t>Problem </a:t>
            </a:r>
            <a:r>
              <a:rPr sz="9250" spc="625" dirty="0"/>
              <a:t>Statement</a:t>
            </a:r>
            <a:endParaRPr sz="9250" dirty="0"/>
          </a:p>
        </p:txBody>
      </p:sp>
      <p:sp>
        <p:nvSpPr>
          <p:cNvPr id="8" name="TextBox 7">
            <a:extLst>
              <a:ext uri="{FF2B5EF4-FFF2-40B4-BE49-F238E27FC236}">
                <a16:creationId xmlns:a16="http://schemas.microsoft.com/office/drawing/2014/main" id="{DA263F8A-304E-8BBB-BA60-BFAE68DCFF89}"/>
              </a:ext>
            </a:extLst>
          </p:cNvPr>
          <p:cNvSpPr txBox="1"/>
          <p:nvPr/>
        </p:nvSpPr>
        <p:spPr>
          <a:xfrm>
            <a:off x="1524000" y="2476500"/>
            <a:ext cx="14859000" cy="6494085"/>
          </a:xfrm>
          <a:prstGeom prst="rect">
            <a:avLst/>
          </a:prstGeom>
          <a:noFill/>
        </p:spPr>
        <p:txBody>
          <a:bodyPr wrap="square">
            <a:spAutoFit/>
          </a:bodyPr>
          <a:lstStyle/>
          <a:p>
            <a:pPr>
              <a:buNone/>
            </a:pPr>
            <a:r>
              <a:rPr lang="en-US" sz="2800" b="1" i="1" dirty="0"/>
              <a:t>Emergency healthcare systems face critical challenges during urgent situations: hospitals often struggle to allocate limited resources such as ICU beds, ventilators, medical staff, and ambulances efficiently, while traffic congestion and delayed coordination further increase patient risk. Traditional systems react slowly, often selecting hospitals based only on proximity, without considering resource availability or patient severity.</a:t>
            </a:r>
          </a:p>
          <a:p>
            <a:pPr>
              <a:buNone/>
            </a:pPr>
            <a:endParaRPr lang="en-US" sz="2800" dirty="0"/>
          </a:p>
          <a:p>
            <a:pPr>
              <a:buNone/>
            </a:pPr>
            <a:r>
              <a:rPr lang="en-US" sz="2800" b="1" dirty="0"/>
              <a:t>There is a need for a smart, real-time system that can</a:t>
            </a:r>
            <a:r>
              <a:rPr lang="en-US" sz="2800" dirty="0"/>
              <a:t>:</a:t>
            </a:r>
          </a:p>
          <a:p>
            <a:pPr>
              <a:buFont typeface="+mj-lt"/>
              <a:buAutoNum type="arabicPeriod"/>
            </a:pPr>
            <a:r>
              <a:rPr lang="en-US" sz="3200" i="1" dirty="0"/>
              <a:t>Quickly identify the most suitable hospitals within a user’s vicinity. </a:t>
            </a:r>
          </a:p>
          <a:p>
            <a:pPr>
              <a:buFont typeface="+mj-lt"/>
              <a:buAutoNum type="arabicPeriod"/>
            </a:pPr>
            <a:r>
              <a:rPr lang="en-US" sz="3200" i="1" dirty="0"/>
              <a:t>Optimize ambulance routing considering traffic, road conditions, and signal management. </a:t>
            </a:r>
          </a:p>
          <a:p>
            <a:pPr>
              <a:buFont typeface="+mj-lt"/>
              <a:buAutoNum type="arabicPeriod"/>
            </a:pPr>
            <a:r>
              <a:rPr lang="en-US" sz="3200" i="1" dirty="0"/>
              <a:t>Collect patient vitals during transit to prepare hospitals ahead of arrival. </a:t>
            </a:r>
          </a:p>
          <a:p>
            <a:pPr>
              <a:buFont typeface="+mj-lt"/>
              <a:buAutoNum type="arabicPeriod"/>
            </a:pPr>
            <a:r>
              <a:rPr lang="en-US" sz="3200" i="1" dirty="0"/>
              <a:t>Efficiently allocate hospital resources—ICU beds, staff, and medical equipment—based on patient priority and hospital capacity.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 y="190500"/>
            <a:ext cx="18287999" cy="10286995"/>
            <a:chOff x="0" y="0"/>
            <a:chExt cx="18287999" cy="10286995"/>
          </a:xfrm>
        </p:grpSpPr>
        <p:pic>
          <p:nvPicPr>
            <p:cNvPr id="3" name="object 3"/>
            <p:cNvPicPr/>
            <p:nvPr/>
          </p:nvPicPr>
          <p:blipFill>
            <a:blip r:embed="rId2" cstate="print"/>
            <a:stretch>
              <a:fillRect/>
            </a:stretch>
          </p:blipFill>
          <p:spPr>
            <a:xfrm>
              <a:off x="10361310" y="484083"/>
              <a:ext cx="7926689" cy="9315446"/>
            </a:xfrm>
            <a:prstGeom prst="rect">
              <a:avLst/>
            </a:prstGeom>
          </p:spPr>
        </p:pic>
        <p:pic>
          <p:nvPicPr>
            <p:cNvPr id="5" name="object 5"/>
            <p:cNvPicPr/>
            <p:nvPr/>
          </p:nvPicPr>
          <p:blipFill>
            <a:blip r:embed="rId3" cstate="print"/>
            <a:stretch>
              <a:fillRect/>
            </a:stretch>
          </p:blipFill>
          <p:spPr>
            <a:xfrm>
              <a:off x="0" y="2088062"/>
              <a:ext cx="13729228" cy="8198933"/>
            </a:xfrm>
            <a:prstGeom prst="rect">
              <a:avLst/>
            </a:prstGeom>
          </p:spPr>
        </p:pic>
        <p:sp>
          <p:nvSpPr>
            <p:cNvPr id="6" name="object 6"/>
            <p:cNvSpPr/>
            <p:nvPr/>
          </p:nvSpPr>
          <p:spPr>
            <a:xfrm>
              <a:off x="16303111" y="0"/>
              <a:ext cx="1983739" cy="2148205"/>
            </a:xfrm>
            <a:custGeom>
              <a:avLst/>
              <a:gdLst/>
              <a:ahLst/>
              <a:cxnLst/>
              <a:rect l="l" t="t" r="r" b="b"/>
              <a:pathLst>
                <a:path w="1983740" h="2148205">
                  <a:moveTo>
                    <a:pt x="39867" y="84581"/>
                  </a:moveTo>
                  <a:lnTo>
                    <a:pt x="0" y="0"/>
                  </a:lnTo>
                  <a:lnTo>
                    <a:pt x="279379" y="0"/>
                  </a:lnTo>
                  <a:lnTo>
                    <a:pt x="225554" y="15209"/>
                  </a:lnTo>
                  <a:lnTo>
                    <a:pt x="173788" y="31729"/>
                  </a:lnTo>
                  <a:lnTo>
                    <a:pt x="124983" y="49103"/>
                  </a:lnTo>
                  <a:lnTo>
                    <a:pt x="80042" y="66873"/>
                  </a:lnTo>
                  <a:lnTo>
                    <a:pt x="39867" y="84581"/>
                  </a:lnTo>
                  <a:close/>
                </a:path>
                <a:path w="1983740" h="2148205">
                  <a:moveTo>
                    <a:pt x="1694169" y="2147945"/>
                  </a:moveTo>
                  <a:lnTo>
                    <a:pt x="1559539" y="2147945"/>
                  </a:lnTo>
                  <a:lnTo>
                    <a:pt x="1515741" y="2142640"/>
                  </a:lnTo>
                  <a:lnTo>
                    <a:pt x="1471226" y="2134814"/>
                  </a:lnTo>
                  <a:lnTo>
                    <a:pt x="1426004" y="2124256"/>
                  </a:lnTo>
                  <a:lnTo>
                    <a:pt x="1380091" y="2110882"/>
                  </a:lnTo>
                  <a:lnTo>
                    <a:pt x="1333499" y="2094606"/>
                  </a:lnTo>
                  <a:lnTo>
                    <a:pt x="1286686" y="2075678"/>
                  </a:lnTo>
                  <a:lnTo>
                    <a:pt x="1241692" y="2055015"/>
                  </a:lnTo>
                  <a:lnTo>
                    <a:pt x="1198522" y="2032623"/>
                  </a:lnTo>
                  <a:lnTo>
                    <a:pt x="1157181" y="2008505"/>
                  </a:lnTo>
                  <a:lnTo>
                    <a:pt x="1117673" y="1982668"/>
                  </a:lnTo>
                  <a:lnTo>
                    <a:pt x="1080001" y="1955115"/>
                  </a:lnTo>
                  <a:lnTo>
                    <a:pt x="1044170" y="1925851"/>
                  </a:lnTo>
                  <a:lnTo>
                    <a:pt x="1010184" y="1894881"/>
                  </a:lnTo>
                  <a:lnTo>
                    <a:pt x="978047" y="1862211"/>
                  </a:lnTo>
                  <a:lnTo>
                    <a:pt x="947764" y="1827843"/>
                  </a:lnTo>
                  <a:lnTo>
                    <a:pt x="919337" y="1791785"/>
                  </a:lnTo>
                  <a:lnTo>
                    <a:pt x="892773" y="1754039"/>
                  </a:lnTo>
                  <a:lnTo>
                    <a:pt x="868073" y="1714611"/>
                  </a:lnTo>
                  <a:lnTo>
                    <a:pt x="845244" y="1673506"/>
                  </a:lnTo>
                  <a:lnTo>
                    <a:pt x="824289" y="1630728"/>
                  </a:lnTo>
                  <a:lnTo>
                    <a:pt x="805258" y="1586392"/>
                  </a:lnTo>
                  <a:lnTo>
                    <a:pt x="788016" y="1540174"/>
                  </a:lnTo>
                  <a:lnTo>
                    <a:pt x="772707" y="1492407"/>
                  </a:lnTo>
                  <a:lnTo>
                    <a:pt x="759289" y="1442986"/>
                  </a:lnTo>
                  <a:lnTo>
                    <a:pt x="747765" y="1391917"/>
                  </a:lnTo>
                  <a:lnTo>
                    <a:pt x="738690" y="1342612"/>
                  </a:lnTo>
                  <a:lnTo>
                    <a:pt x="731385" y="1292768"/>
                  </a:lnTo>
                  <a:lnTo>
                    <a:pt x="725727" y="1242474"/>
                  </a:lnTo>
                  <a:lnTo>
                    <a:pt x="721593" y="1191819"/>
                  </a:lnTo>
                  <a:lnTo>
                    <a:pt x="718861" y="1140893"/>
                  </a:lnTo>
                  <a:lnTo>
                    <a:pt x="717407" y="1089784"/>
                  </a:lnTo>
                  <a:lnTo>
                    <a:pt x="717152" y="1046166"/>
                  </a:lnTo>
                  <a:lnTo>
                    <a:pt x="717108" y="1038582"/>
                  </a:lnTo>
                  <a:lnTo>
                    <a:pt x="717833" y="987977"/>
                  </a:lnTo>
                  <a:lnTo>
                    <a:pt x="719484" y="936254"/>
                  </a:lnTo>
                  <a:lnTo>
                    <a:pt x="721914" y="885306"/>
                  </a:lnTo>
                  <a:lnTo>
                    <a:pt x="725007" y="834622"/>
                  </a:lnTo>
                  <a:lnTo>
                    <a:pt x="728640" y="784289"/>
                  </a:lnTo>
                  <a:lnTo>
                    <a:pt x="732691" y="734398"/>
                  </a:lnTo>
                  <a:lnTo>
                    <a:pt x="737036" y="685037"/>
                  </a:lnTo>
                  <a:lnTo>
                    <a:pt x="741554" y="636296"/>
                  </a:lnTo>
                  <a:lnTo>
                    <a:pt x="746119" y="588263"/>
                  </a:lnTo>
                  <a:lnTo>
                    <a:pt x="751585" y="530331"/>
                  </a:lnTo>
                  <a:lnTo>
                    <a:pt x="756936" y="470886"/>
                  </a:lnTo>
                  <a:lnTo>
                    <a:pt x="761812" y="410939"/>
                  </a:lnTo>
                  <a:lnTo>
                    <a:pt x="765853" y="351504"/>
                  </a:lnTo>
                  <a:lnTo>
                    <a:pt x="768699" y="293593"/>
                  </a:lnTo>
                  <a:lnTo>
                    <a:pt x="769992" y="238217"/>
                  </a:lnTo>
                  <a:lnTo>
                    <a:pt x="769369" y="186389"/>
                  </a:lnTo>
                  <a:lnTo>
                    <a:pt x="766473" y="139120"/>
                  </a:lnTo>
                  <a:lnTo>
                    <a:pt x="760943" y="97424"/>
                  </a:lnTo>
                  <a:lnTo>
                    <a:pt x="740542" y="34798"/>
                  </a:lnTo>
                  <a:lnTo>
                    <a:pt x="708903" y="0"/>
                  </a:lnTo>
                  <a:lnTo>
                    <a:pt x="1290553" y="0"/>
                  </a:lnTo>
                  <a:lnTo>
                    <a:pt x="1297673" y="44737"/>
                  </a:lnTo>
                  <a:lnTo>
                    <a:pt x="1302956" y="90406"/>
                  </a:lnTo>
                  <a:lnTo>
                    <a:pt x="1306553" y="136956"/>
                  </a:lnTo>
                  <a:lnTo>
                    <a:pt x="1308614" y="184334"/>
                  </a:lnTo>
                  <a:lnTo>
                    <a:pt x="1309290" y="232490"/>
                  </a:lnTo>
                  <a:lnTo>
                    <a:pt x="1308732" y="281372"/>
                  </a:lnTo>
                  <a:lnTo>
                    <a:pt x="1307090" y="330929"/>
                  </a:lnTo>
                  <a:lnTo>
                    <a:pt x="1304516" y="381110"/>
                  </a:lnTo>
                  <a:lnTo>
                    <a:pt x="1301161" y="431863"/>
                  </a:lnTo>
                  <a:lnTo>
                    <a:pt x="1297173" y="483137"/>
                  </a:lnTo>
                  <a:lnTo>
                    <a:pt x="1292706" y="534880"/>
                  </a:lnTo>
                  <a:lnTo>
                    <a:pt x="1287906" y="587042"/>
                  </a:lnTo>
                  <a:lnTo>
                    <a:pt x="1282933" y="639570"/>
                  </a:lnTo>
                  <a:lnTo>
                    <a:pt x="1275817" y="717315"/>
                  </a:lnTo>
                  <a:lnTo>
                    <a:pt x="1269755" y="790908"/>
                  </a:lnTo>
                  <a:lnTo>
                    <a:pt x="1264826" y="860469"/>
                  </a:lnTo>
                  <a:lnTo>
                    <a:pt x="1261107" y="926118"/>
                  </a:lnTo>
                  <a:lnTo>
                    <a:pt x="1258701" y="987375"/>
                  </a:lnTo>
                  <a:lnTo>
                    <a:pt x="1257614" y="1046166"/>
                  </a:lnTo>
                  <a:lnTo>
                    <a:pt x="1257919" y="1089784"/>
                  </a:lnTo>
                  <a:lnTo>
                    <a:pt x="1257996" y="1100804"/>
                  </a:lnTo>
                  <a:lnTo>
                    <a:pt x="1259901" y="1152012"/>
                  </a:lnTo>
                  <a:lnTo>
                    <a:pt x="1263407" y="1199911"/>
                  </a:lnTo>
                  <a:lnTo>
                    <a:pt x="1268593" y="1244621"/>
                  </a:lnTo>
                  <a:lnTo>
                    <a:pt x="1275536" y="1286262"/>
                  </a:lnTo>
                  <a:lnTo>
                    <a:pt x="1284314" y="1324955"/>
                  </a:lnTo>
                  <a:lnTo>
                    <a:pt x="1307690" y="1393978"/>
                  </a:lnTo>
                  <a:lnTo>
                    <a:pt x="1339346" y="1452652"/>
                  </a:lnTo>
                  <a:lnTo>
                    <a:pt x="1379906" y="1501940"/>
                  </a:lnTo>
                  <a:lnTo>
                    <a:pt x="1429996" y="1542806"/>
                  </a:lnTo>
                  <a:lnTo>
                    <a:pt x="1490240" y="1576212"/>
                  </a:lnTo>
                  <a:lnTo>
                    <a:pt x="1542903" y="1597154"/>
                  </a:lnTo>
                  <a:lnTo>
                    <a:pt x="1592071" y="1609151"/>
                  </a:lnTo>
                  <a:lnTo>
                    <a:pt x="1622541" y="1611245"/>
                  </a:lnTo>
                  <a:lnTo>
                    <a:pt x="1983246" y="1611245"/>
                  </a:lnTo>
                  <a:lnTo>
                    <a:pt x="1983246" y="2061617"/>
                  </a:lnTo>
                  <a:lnTo>
                    <a:pt x="1939534" y="2082703"/>
                  </a:lnTo>
                  <a:lnTo>
                    <a:pt x="1892915" y="2101865"/>
                  </a:lnTo>
                  <a:lnTo>
                    <a:pt x="1845049" y="2118134"/>
                  </a:lnTo>
                  <a:lnTo>
                    <a:pt x="1795957" y="2131334"/>
                  </a:lnTo>
                  <a:lnTo>
                    <a:pt x="1745657" y="2141289"/>
                  </a:lnTo>
                  <a:lnTo>
                    <a:pt x="1694169" y="2147945"/>
                  </a:lnTo>
                  <a:close/>
                </a:path>
                <a:path w="1983740" h="2148205">
                  <a:moveTo>
                    <a:pt x="1983246" y="1611245"/>
                  </a:moveTo>
                  <a:lnTo>
                    <a:pt x="1622541" y="1611245"/>
                  </a:lnTo>
                  <a:lnTo>
                    <a:pt x="1654869" y="1608925"/>
                  </a:lnTo>
                  <a:lnTo>
                    <a:pt x="1690510" y="1601082"/>
                  </a:lnTo>
                  <a:lnTo>
                    <a:pt x="1729389" y="1586392"/>
                  </a:lnTo>
                  <a:lnTo>
                    <a:pt x="1771432" y="1563532"/>
                  </a:lnTo>
                  <a:lnTo>
                    <a:pt x="1816563" y="1531176"/>
                  </a:lnTo>
                  <a:lnTo>
                    <a:pt x="1864707" y="1488002"/>
                  </a:lnTo>
                  <a:lnTo>
                    <a:pt x="1915789" y="1432684"/>
                  </a:lnTo>
                  <a:lnTo>
                    <a:pt x="1951904" y="1387552"/>
                  </a:lnTo>
                  <a:lnTo>
                    <a:pt x="1983246" y="1344087"/>
                  </a:lnTo>
                  <a:lnTo>
                    <a:pt x="1983246" y="1611245"/>
                  </a:lnTo>
                  <a:close/>
                </a:path>
              </a:pathLst>
            </a:custGeom>
            <a:solidFill>
              <a:srgbClr val="FDBD00"/>
            </a:solidFill>
          </p:spPr>
          <p:txBody>
            <a:bodyPr wrap="square" lIns="0" tIns="0" rIns="0" bIns="0" rtlCol="0"/>
            <a:lstStyle/>
            <a:p>
              <a:endParaRPr/>
            </a:p>
          </p:txBody>
        </p:sp>
      </p:grpSp>
      <p:sp>
        <p:nvSpPr>
          <p:cNvPr id="9" name="object 9"/>
          <p:cNvSpPr txBox="1">
            <a:spLocks noGrp="1"/>
          </p:cNvSpPr>
          <p:nvPr>
            <p:ph type="title"/>
          </p:nvPr>
        </p:nvSpPr>
        <p:spPr>
          <a:xfrm>
            <a:off x="894546" y="-207698"/>
            <a:ext cx="11416030" cy="2349361"/>
          </a:xfrm>
          <a:prstGeom prst="rect">
            <a:avLst/>
          </a:prstGeom>
        </p:spPr>
        <p:txBody>
          <a:bodyPr vert="horz" wrap="square" lIns="0" tIns="612140" rIns="0" bIns="0" rtlCol="0">
            <a:spAutoFit/>
          </a:bodyPr>
          <a:lstStyle/>
          <a:p>
            <a:pPr marL="12700">
              <a:lnSpc>
                <a:spcPct val="100000"/>
              </a:lnSpc>
              <a:spcBef>
                <a:spcPts val="4820"/>
              </a:spcBef>
            </a:pPr>
            <a:r>
              <a:rPr spc="-10" dirty="0" err="1"/>
              <a:t>Soluti</a:t>
            </a:r>
            <a:r>
              <a:rPr lang="en-IN" spc="-10" dirty="0"/>
              <a:t>on</a:t>
            </a:r>
          </a:p>
        </p:txBody>
      </p:sp>
      <p:sp>
        <p:nvSpPr>
          <p:cNvPr id="15" name="object 15"/>
          <p:cNvSpPr txBox="1"/>
          <p:nvPr/>
        </p:nvSpPr>
        <p:spPr>
          <a:xfrm>
            <a:off x="2030200" y="3534022"/>
            <a:ext cx="10407015" cy="428707"/>
          </a:xfrm>
          <a:prstGeom prst="rect">
            <a:avLst/>
          </a:prstGeom>
        </p:spPr>
        <p:txBody>
          <a:bodyPr vert="horz" wrap="square" lIns="0" tIns="12065" rIns="0" bIns="0" rtlCol="0">
            <a:spAutoFit/>
          </a:bodyPr>
          <a:lstStyle/>
          <a:p>
            <a:pPr marL="12700" marR="133350">
              <a:lnSpc>
                <a:spcPct val="116199"/>
              </a:lnSpc>
              <a:spcBef>
                <a:spcPts val="95"/>
              </a:spcBef>
            </a:pPr>
            <a:endParaRPr sz="2550" dirty="0">
              <a:latin typeface="Trebuchet MS"/>
              <a:cs typeface="Trebuchet MS"/>
            </a:endParaRPr>
          </a:p>
        </p:txBody>
      </p:sp>
      <p:sp>
        <p:nvSpPr>
          <p:cNvPr id="17" name="TextBox 16">
            <a:extLst>
              <a:ext uri="{FF2B5EF4-FFF2-40B4-BE49-F238E27FC236}">
                <a16:creationId xmlns:a16="http://schemas.microsoft.com/office/drawing/2014/main" id="{929D393E-4847-D8F9-BBA9-A784F51A6634}"/>
              </a:ext>
            </a:extLst>
          </p:cNvPr>
          <p:cNvSpPr txBox="1"/>
          <p:nvPr/>
        </p:nvSpPr>
        <p:spPr>
          <a:xfrm>
            <a:off x="2224373" y="2405769"/>
            <a:ext cx="10009400" cy="1569660"/>
          </a:xfrm>
          <a:prstGeom prst="rect">
            <a:avLst/>
          </a:prstGeom>
          <a:noFill/>
        </p:spPr>
        <p:txBody>
          <a:bodyPr wrap="square">
            <a:spAutoFit/>
          </a:bodyPr>
          <a:lstStyle/>
          <a:p>
            <a:pPr algn="ctr"/>
            <a:r>
              <a:rPr lang="en-US" sz="2400" b="1" i="1" dirty="0"/>
              <a:t>Our project is a Quantum-Assisted Smart Emergency Response and Hospital Resource Optimization System designed to improve emergency healthcare coordination and resource allocation during critical situations. </a:t>
            </a:r>
            <a:endParaRPr lang="en-IN" sz="2400" b="1" i="1" dirty="0"/>
          </a:p>
        </p:txBody>
      </p:sp>
      <p:pic>
        <p:nvPicPr>
          <p:cNvPr id="19" name="Picture 18">
            <a:extLst>
              <a:ext uri="{FF2B5EF4-FFF2-40B4-BE49-F238E27FC236}">
                <a16:creationId xmlns:a16="http://schemas.microsoft.com/office/drawing/2014/main" id="{DB2E40D6-8235-1639-F71A-52B90917E89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4546" y="3962729"/>
            <a:ext cx="12669054" cy="564968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0" y="0"/>
            <a:ext cx="18288000" cy="10287000"/>
          </a:xfrm>
          <a:prstGeom prst="rect">
            <a:avLst/>
          </a:prstGeom>
        </p:spPr>
      </p:pic>
      <p:sp>
        <p:nvSpPr>
          <p:cNvPr id="7" name="object 7"/>
          <p:cNvSpPr txBox="1">
            <a:spLocks noGrp="1"/>
          </p:cNvSpPr>
          <p:nvPr>
            <p:ph type="title"/>
          </p:nvPr>
        </p:nvSpPr>
        <p:spPr>
          <a:xfrm>
            <a:off x="894546" y="390400"/>
            <a:ext cx="15453994" cy="1745350"/>
          </a:xfrm>
          <a:prstGeom prst="rect">
            <a:avLst/>
          </a:prstGeom>
        </p:spPr>
        <p:txBody>
          <a:bodyPr vert="horz" wrap="square" lIns="0" tIns="13970" rIns="0" bIns="0" rtlCol="0">
            <a:spAutoFit/>
          </a:bodyPr>
          <a:lstStyle/>
          <a:p>
            <a:pPr marL="12700">
              <a:lnSpc>
                <a:spcPct val="100000"/>
              </a:lnSpc>
              <a:spcBef>
                <a:spcPts val="110"/>
              </a:spcBef>
            </a:pPr>
            <a:r>
              <a:rPr spc="440" dirty="0"/>
              <a:t>Features</a:t>
            </a:r>
          </a:p>
        </p:txBody>
      </p:sp>
      <p:sp>
        <p:nvSpPr>
          <p:cNvPr id="14" name="TextBox 13">
            <a:extLst>
              <a:ext uri="{FF2B5EF4-FFF2-40B4-BE49-F238E27FC236}">
                <a16:creationId xmlns:a16="http://schemas.microsoft.com/office/drawing/2014/main" id="{387CFA40-7324-3A39-19CB-FC10E2FD5CBB}"/>
              </a:ext>
            </a:extLst>
          </p:cNvPr>
          <p:cNvSpPr txBox="1"/>
          <p:nvPr/>
        </p:nvSpPr>
        <p:spPr>
          <a:xfrm>
            <a:off x="1219200" y="2526150"/>
            <a:ext cx="15773400" cy="6001643"/>
          </a:xfrm>
          <a:prstGeom prst="rect">
            <a:avLst/>
          </a:prstGeom>
          <a:noFill/>
        </p:spPr>
        <p:txBody>
          <a:bodyPr wrap="square">
            <a:spAutoFit/>
          </a:bodyPr>
          <a:lstStyle/>
          <a:p>
            <a:pPr>
              <a:buFont typeface="Arial" panose="020B0604020202020204" pitchFamily="34" charset="0"/>
              <a:buChar char="•"/>
            </a:pPr>
            <a:r>
              <a:rPr lang="en-US" sz="3200" b="1" i="1" dirty="0"/>
              <a:t>Quantum-based route optimization analyzes traffic and congestion to generate the fastest ambulance route during emergencies. </a:t>
            </a:r>
          </a:p>
          <a:p>
            <a:pPr>
              <a:buFont typeface="Arial" panose="020B0604020202020204" pitchFamily="34" charset="0"/>
              <a:buChar char="•"/>
            </a:pPr>
            <a:r>
              <a:rPr lang="en-US" sz="3200" b="1" i="1" dirty="0"/>
              <a:t>Real-time hospital resource monitoring tracks ICU beds, doctors, ventilators, and emergency equipment availability. </a:t>
            </a:r>
          </a:p>
          <a:p>
            <a:pPr>
              <a:buFont typeface="Arial" panose="020B0604020202020204" pitchFamily="34" charset="0"/>
              <a:buChar char="•"/>
            </a:pPr>
            <a:r>
              <a:rPr lang="en-US" sz="3200" b="1" i="1" dirty="0"/>
              <a:t>Quantum-assisted resource allocation intelligently assigns medical resources based on patient severity and hospital capacity. </a:t>
            </a:r>
          </a:p>
          <a:p>
            <a:pPr>
              <a:buFont typeface="Arial" panose="020B0604020202020204" pitchFamily="34" charset="0"/>
              <a:buChar char="•"/>
            </a:pPr>
            <a:r>
              <a:rPr lang="en-US" sz="3200" b="1" i="1" dirty="0"/>
              <a:t>Live patient vitals transmission enables hospitals to prepare treatment before the patient arrives. </a:t>
            </a:r>
          </a:p>
          <a:p>
            <a:pPr>
              <a:buFont typeface="Arial" panose="020B0604020202020204" pitchFamily="34" charset="0"/>
              <a:buChar char="•"/>
            </a:pPr>
            <a:r>
              <a:rPr lang="en-US" sz="3200" b="1" i="1" dirty="0"/>
              <a:t>Traffic clearance coordination alerts police units to create green corridors for faster ambulance movement. </a:t>
            </a:r>
          </a:p>
          <a:p>
            <a:pPr>
              <a:buFont typeface="Arial" panose="020B0604020202020204" pitchFamily="34" charset="0"/>
              <a:buChar char="•"/>
            </a:pPr>
            <a:r>
              <a:rPr lang="en-US" sz="3200" b="1" i="1" dirty="0"/>
              <a:t>Dynamic emergency coordination connects hospitals, ambulances, police, and healthcare workers into one platform.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10361310" y="484083"/>
            <a:ext cx="7926689" cy="9315446"/>
          </a:xfrm>
          <a:prstGeom prst="rect">
            <a:avLst/>
          </a:prstGeom>
        </p:spPr>
      </p:pic>
      <p:sp>
        <p:nvSpPr>
          <p:cNvPr id="9" name="object 9"/>
          <p:cNvSpPr txBox="1">
            <a:spLocks noGrp="1"/>
          </p:cNvSpPr>
          <p:nvPr>
            <p:ph type="title"/>
          </p:nvPr>
        </p:nvSpPr>
        <p:spPr>
          <a:xfrm>
            <a:off x="914400" y="48999"/>
            <a:ext cx="15453994" cy="1368323"/>
          </a:xfrm>
          <a:prstGeom prst="rect">
            <a:avLst/>
          </a:prstGeom>
        </p:spPr>
        <p:txBody>
          <a:bodyPr vert="horz" wrap="square" lIns="0" tIns="13970" rIns="0" bIns="0" rtlCol="0">
            <a:spAutoFit/>
          </a:bodyPr>
          <a:lstStyle/>
          <a:p>
            <a:pPr marL="12700" algn="ctr">
              <a:lnSpc>
                <a:spcPct val="100000"/>
              </a:lnSpc>
              <a:spcBef>
                <a:spcPts val="110"/>
              </a:spcBef>
            </a:pPr>
            <a:r>
              <a:rPr sz="8800" dirty="0"/>
              <a:t>Flow</a:t>
            </a:r>
            <a:r>
              <a:rPr sz="8800" spc="-495" dirty="0"/>
              <a:t> </a:t>
            </a:r>
            <a:r>
              <a:rPr sz="8800" spc="890" dirty="0"/>
              <a:t>Chart</a:t>
            </a:r>
          </a:p>
        </p:txBody>
      </p:sp>
      <p:pic>
        <p:nvPicPr>
          <p:cNvPr id="12" name="Picture 11">
            <a:extLst>
              <a:ext uri="{FF2B5EF4-FFF2-40B4-BE49-F238E27FC236}">
                <a16:creationId xmlns:a16="http://schemas.microsoft.com/office/drawing/2014/main" id="{74776389-5F48-F00D-CBF9-525B7E531A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469916"/>
            <a:ext cx="18135600" cy="832961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6718706"/>
            <a:ext cx="3383915" cy="3419475"/>
            <a:chOff x="0" y="6718706"/>
            <a:chExt cx="3383915" cy="3419475"/>
          </a:xfrm>
        </p:grpSpPr>
        <p:sp>
          <p:nvSpPr>
            <p:cNvPr id="3" name="object 3"/>
            <p:cNvSpPr/>
            <p:nvPr/>
          </p:nvSpPr>
          <p:spPr>
            <a:xfrm>
              <a:off x="0" y="8834658"/>
              <a:ext cx="593090" cy="153035"/>
            </a:xfrm>
            <a:custGeom>
              <a:avLst/>
              <a:gdLst/>
              <a:ahLst/>
              <a:cxnLst/>
              <a:rect l="l" t="t" r="r" b="b"/>
              <a:pathLst>
                <a:path w="593090" h="153034">
                  <a:moveTo>
                    <a:pt x="333384" y="140573"/>
                  </a:moveTo>
                  <a:lnTo>
                    <a:pt x="329830" y="140573"/>
                  </a:lnTo>
                  <a:lnTo>
                    <a:pt x="324498" y="140299"/>
                  </a:lnTo>
                  <a:lnTo>
                    <a:pt x="323703" y="140299"/>
                  </a:lnTo>
                  <a:lnTo>
                    <a:pt x="316938" y="139145"/>
                  </a:lnTo>
                  <a:lnTo>
                    <a:pt x="310612" y="137140"/>
                  </a:lnTo>
                  <a:lnTo>
                    <a:pt x="304429" y="134081"/>
                  </a:lnTo>
                  <a:lnTo>
                    <a:pt x="286885" y="129000"/>
                  </a:lnTo>
                  <a:lnTo>
                    <a:pt x="269139" y="125390"/>
                  </a:lnTo>
                  <a:lnTo>
                    <a:pt x="251512" y="121021"/>
                  </a:lnTo>
                  <a:lnTo>
                    <a:pt x="234325" y="113659"/>
                  </a:lnTo>
                  <a:lnTo>
                    <a:pt x="208713" y="107811"/>
                  </a:lnTo>
                  <a:lnTo>
                    <a:pt x="154297" y="104834"/>
                  </a:lnTo>
                  <a:lnTo>
                    <a:pt x="127899" y="98419"/>
                  </a:lnTo>
                  <a:lnTo>
                    <a:pt x="96379" y="89452"/>
                  </a:lnTo>
                  <a:lnTo>
                    <a:pt x="64430" y="81659"/>
                  </a:lnTo>
                  <a:lnTo>
                    <a:pt x="0" y="67665"/>
                  </a:lnTo>
                  <a:lnTo>
                    <a:pt x="0" y="0"/>
                  </a:lnTo>
                  <a:lnTo>
                    <a:pt x="34934" y="3535"/>
                  </a:lnTo>
                  <a:lnTo>
                    <a:pt x="71562" y="6489"/>
                  </a:lnTo>
                  <a:lnTo>
                    <a:pt x="107928" y="8858"/>
                  </a:lnTo>
                  <a:lnTo>
                    <a:pt x="144055" y="12626"/>
                  </a:lnTo>
                  <a:lnTo>
                    <a:pt x="192208" y="22222"/>
                  </a:lnTo>
                  <a:lnTo>
                    <a:pt x="204543" y="23877"/>
                  </a:lnTo>
                  <a:lnTo>
                    <a:pt x="216974" y="24817"/>
                  </a:lnTo>
                  <a:lnTo>
                    <a:pt x="229499" y="25115"/>
                  </a:lnTo>
                  <a:lnTo>
                    <a:pt x="268876" y="25115"/>
                  </a:lnTo>
                  <a:lnTo>
                    <a:pt x="271595" y="25267"/>
                  </a:lnTo>
                  <a:lnTo>
                    <a:pt x="304465" y="29291"/>
                  </a:lnTo>
                  <a:lnTo>
                    <a:pt x="321067" y="30205"/>
                  </a:lnTo>
                  <a:lnTo>
                    <a:pt x="330700" y="30205"/>
                  </a:lnTo>
                  <a:lnTo>
                    <a:pt x="346629" y="32262"/>
                  </a:lnTo>
                  <a:lnTo>
                    <a:pt x="381356" y="42383"/>
                  </a:lnTo>
                  <a:lnTo>
                    <a:pt x="399172" y="44683"/>
                  </a:lnTo>
                  <a:lnTo>
                    <a:pt x="401205" y="44683"/>
                  </a:lnTo>
                  <a:lnTo>
                    <a:pt x="490310" y="55505"/>
                  </a:lnTo>
                  <a:lnTo>
                    <a:pt x="540395" y="66864"/>
                  </a:lnTo>
                  <a:lnTo>
                    <a:pt x="578391" y="87062"/>
                  </a:lnTo>
                  <a:lnTo>
                    <a:pt x="592467" y="119755"/>
                  </a:lnTo>
                  <a:lnTo>
                    <a:pt x="593012" y="120761"/>
                  </a:lnTo>
                  <a:lnTo>
                    <a:pt x="593012" y="132557"/>
                  </a:lnTo>
                  <a:lnTo>
                    <a:pt x="589180" y="138409"/>
                  </a:lnTo>
                  <a:lnTo>
                    <a:pt x="356881" y="138409"/>
                  </a:lnTo>
                  <a:lnTo>
                    <a:pt x="348880" y="138927"/>
                  </a:lnTo>
                  <a:lnTo>
                    <a:pt x="340623" y="139811"/>
                  </a:lnTo>
                  <a:lnTo>
                    <a:pt x="337069" y="140299"/>
                  </a:lnTo>
                  <a:lnTo>
                    <a:pt x="333384" y="140573"/>
                  </a:lnTo>
                  <a:close/>
                </a:path>
                <a:path w="593090" h="153034">
                  <a:moveTo>
                    <a:pt x="268876" y="25115"/>
                  </a:moveTo>
                  <a:lnTo>
                    <a:pt x="239405" y="25115"/>
                  </a:lnTo>
                  <a:lnTo>
                    <a:pt x="247533" y="24627"/>
                  </a:lnTo>
                  <a:lnTo>
                    <a:pt x="248168" y="24627"/>
                  </a:lnTo>
                  <a:lnTo>
                    <a:pt x="252740" y="24353"/>
                  </a:lnTo>
                  <a:lnTo>
                    <a:pt x="255280" y="24353"/>
                  </a:lnTo>
                  <a:lnTo>
                    <a:pt x="268876" y="25115"/>
                  </a:lnTo>
                  <a:close/>
                </a:path>
                <a:path w="593090" h="153034">
                  <a:moveTo>
                    <a:pt x="431467" y="149199"/>
                  </a:moveTo>
                  <a:lnTo>
                    <a:pt x="426732" y="149199"/>
                  </a:lnTo>
                  <a:lnTo>
                    <a:pt x="425052" y="148915"/>
                  </a:lnTo>
                  <a:lnTo>
                    <a:pt x="421848" y="148437"/>
                  </a:lnTo>
                  <a:lnTo>
                    <a:pt x="422288" y="148437"/>
                  </a:lnTo>
                  <a:lnTo>
                    <a:pt x="408298" y="143926"/>
                  </a:lnTo>
                  <a:lnTo>
                    <a:pt x="393918" y="140775"/>
                  </a:lnTo>
                  <a:lnTo>
                    <a:pt x="379048" y="138927"/>
                  </a:lnTo>
                  <a:lnTo>
                    <a:pt x="378137" y="138927"/>
                  </a:lnTo>
                  <a:lnTo>
                    <a:pt x="364882" y="138409"/>
                  </a:lnTo>
                  <a:lnTo>
                    <a:pt x="589180" y="138409"/>
                  </a:lnTo>
                  <a:lnTo>
                    <a:pt x="588529" y="139415"/>
                  </a:lnTo>
                  <a:lnTo>
                    <a:pt x="576590" y="140055"/>
                  </a:lnTo>
                  <a:lnTo>
                    <a:pt x="564637" y="142243"/>
                  </a:lnTo>
                  <a:lnTo>
                    <a:pt x="553205" y="145511"/>
                  </a:lnTo>
                  <a:lnTo>
                    <a:pt x="446163" y="145511"/>
                  </a:lnTo>
                  <a:lnTo>
                    <a:pt x="439430" y="146273"/>
                  </a:lnTo>
                  <a:lnTo>
                    <a:pt x="432828" y="148437"/>
                  </a:lnTo>
                  <a:lnTo>
                    <a:pt x="431467" y="149199"/>
                  </a:lnTo>
                  <a:close/>
                </a:path>
                <a:path w="593090" h="153034">
                  <a:moveTo>
                    <a:pt x="518678" y="152765"/>
                  </a:moveTo>
                  <a:lnTo>
                    <a:pt x="513472" y="152765"/>
                  </a:lnTo>
                  <a:lnTo>
                    <a:pt x="498129" y="151632"/>
                  </a:lnTo>
                  <a:lnTo>
                    <a:pt x="467823" y="146644"/>
                  </a:lnTo>
                  <a:lnTo>
                    <a:pt x="452765" y="145511"/>
                  </a:lnTo>
                  <a:lnTo>
                    <a:pt x="553205" y="145511"/>
                  </a:lnTo>
                  <a:lnTo>
                    <a:pt x="541301" y="148915"/>
                  </a:lnTo>
                  <a:lnTo>
                    <a:pt x="529346" y="151119"/>
                  </a:lnTo>
                  <a:lnTo>
                    <a:pt x="524012" y="152247"/>
                  </a:lnTo>
                  <a:lnTo>
                    <a:pt x="518678" y="152765"/>
                  </a:lnTo>
                  <a:close/>
                </a:path>
              </a:pathLst>
            </a:custGeom>
            <a:solidFill>
              <a:srgbClr val="FE802E"/>
            </a:solidFill>
          </p:spPr>
          <p:txBody>
            <a:bodyPr wrap="square" lIns="0" tIns="0" rIns="0" bIns="0" rtlCol="0"/>
            <a:lstStyle/>
            <a:p>
              <a:endParaRPr/>
            </a:p>
          </p:txBody>
        </p:sp>
        <p:pic>
          <p:nvPicPr>
            <p:cNvPr id="4" name="object 4"/>
            <p:cNvPicPr/>
            <p:nvPr/>
          </p:nvPicPr>
          <p:blipFill>
            <a:blip r:embed="rId2" cstate="print"/>
            <a:stretch>
              <a:fillRect/>
            </a:stretch>
          </p:blipFill>
          <p:spPr>
            <a:xfrm>
              <a:off x="0" y="6718706"/>
              <a:ext cx="3383462" cy="3419429"/>
            </a:xfrm>
            <a:prstGeom prst="rect">
              <a:avLst/>
            </a:prstGeom>
          </p:spPr>
        </p:pic>
      </p:grpSp>
      <p:pic>
        <p:nvPicPr>
          <p:cNvPr id="6" name="object 6"/>
          <p:cNvPicPr/>
          <p:nvPr/>
        </p:nvPicPr>
        <p:blipFill>
          <a:blip r:embed="rId3" cstate="print"/>
          <a:stretch>
            <a:fillRect/>
          </a:stretch>
        </p:blipFill>
        <p:spPr>
          <a:xfrm>
            <a:off x="5481340" y="965209"/>
            <a:ext cx="11830049" cy="8353397"/>
          </a:xfrm>
          <a:prstGeom prst="rect">
            <a:avLst/>
          </a:prstGeom>
        </p:spPr>
      </p:pic>
      <p:sp>
        <p:nvSpPr>
          <p:cNvPr id="9" name="object 9"/>
          <p:cNvSpPr txBox="1">
            <a:spLocks noGrp="1"/>
          </p:cNvSpPr>
          <p:nvPr>
            <p:ph type="title"/>
          </p:nvPr>
        </p:nvSpPr>
        <p:spPr>
          <a:xfrm>
            <a:off x="628245" y="1054948"/>
            <a:ext cx="4603115" cy="3512820"/>
          </a:xfrm>
          <a:prstGeom prst="rect">
            <a:avLst/>
          </a:prstGeom>
        </p:spPr>
        <p:txBody>
          <a:bodyPr vert="horz" wrap="square" lIns="0" tIns="273685" rIns="0" bIns="0" rtlCol="0">
            <a:spAutoFit/>
          </a:bodyPr>
          <a:lstStyle/>
          <a:p>
            <a:pPr marL="12700" marR="5080">
              <a:lnSpc>
                <a:spcPts val="12750"/>
              </a:lnSpc>
              <a:spcBef>
                <a:spcPts val="2155"/>
              </a:spcBef>
            </a:pPr>
            <a:r>
              <a:rPr sz="12250" spc="120" dirty="0"/>
              <a:t>Tech </a:t>
            </a:r>
            <a:r>
              <a:rPr sz="12250" spc="630" dirty="0"/>
              <a:t>Stack</a:t>
            </a:r>
            <a:endParaRPr sz="12250" dirty="0"/>
          </a:p>
        </p:txBody>
      </p:sp>
      <p:sp>
        <p:nvSpPr>
          <p:cNvPr id="20" name="TextBox 19">
            <a:extLst>
              <a:ext uri="{FF2B5EF4-FFF2-40B4-BE49-F238E27FC236}">
                <a16:creationId xmlns:a16="http://schemas.microsoft.com/office/drawing/2014/main" id="{3B27516A-1657-3BF2-DE1C-BCD4BDED7174}"/>
              </a:ext>
            </a:extLst>
          </p:cNvPr>
          <p:cNvSpPr txBox="1"/>
          <p:nvPr/>
        </p:nvSpPr>
        <p:spPr>
          <a:xfrm>
            <a:off x="6934200" y="1587087"/>
            <a:ext cx="9296400" cy="6740307"/>
          </a:xfrm>
          <a:prstGeom prst="rect">
            <a:avLst/>
          </a:prstGeom>
          <a:noFill/>
        </p:spPr>
        <p:txBody>
          <a:bodyPr wrap="square">
            <a:spAutoFit/>
          </a:bodyPr>
          <a:lstStyle/>
          <a:p>
            <a:pPr>
              <a:buFont typeface="Arial" panose="020B0604020202020204" pitchFamily="34" charset="0"/>
              <a:buChar char="•"/>
            </a:pPr>
            <a:r>
              <a:rPr lang="en-US" sz="2400" b="1" dirty="0"/>
              <a:t>React.js is used to build an interactive and responsive frontend dashboard for emergency monitoring and coordination. </a:t>
            </a:r>
          </a:p>
          <a:p>
            <a:endParaRPr lang="en-US" sz="2400" b="1" dirty="0"/>
          </a:p>
          <a:p>
            <a:pPr>
              <a:buFont typeface="Arial" panose="020B0604020202020204" pitchFamily="34" charset="0"/>
              <a:buChar char="•"/>
            </a:pPr>
            <a:r>
              <a:rPr lang="en-US" sz="2400" b="1" dirty="0"/>
              <a:t>Python with Flask/</a:t>
            </a:r>
            <a:r>
              <a:rPr lang="en-US" sz="2400" b="1" dirty="0" err="1"/>
              <a:t>FastAPI</a:t>
            </a:r>
            <a:r>
              <a:rPr lang="en-US" sz="2400" b="1" dirty="0"/>
              <a:t> is used to handle backend processing, emergency workflows, and API integration.</a:t>
            </a:r>
          </a:p>
          <a:p>
            <a:r>
              <a:rPr lang="en-US" sz="2400" b="1" dirty="0"/>
              <a:t> </a:t>
            </a:r>
          </a:p>
          <a:p>
            <a:pPr>
              <a:buFont typeface="Arial" panose="020B0604020202020204" pitchFamily="34" charset="0"/>
              <a:buChar char="•"/>
            </a:pPr>
            <a:r>
              <a:rPr lang="en-US" sz="2400" b="1" dirty="0" err="1"/>
              <a:t>Qiskit</a:t>
            </a:r>
            <a:r>
              <a:rPr lang="en-US" sz="2400" b="1" dirty="0"/>
              <a:t> with QAOA is used for quantum-based route optimization and intelligent hospital resource allocation. </a:t>
            </a:r>
          </a:p>
          <a:p>
            <a:pPr>
              <a:buFont typeface="Arial" panose="020B0604020202020204" pitchFamily="34" charset="0"/>
              <a:buChar char="•"/>
            </a:pPr>
            <a:endParaRPr lang="en-US" sz="2400" b="1" dirty="0"/>
          </a:p>
          <a:p>
            <a:pPr>
              <a:buFont typeface="Arial" panose="020B0604020202020204" pitchFamily="34" charset="0"/>
              <a:buChar char="•"/>
            </a:pPr>
            <a:r>
              <a:rPr lang="en-US" sz="2400" b="1" dirty="0"/>
              <a:t>Google Maps API / </a:t>
            </a:r>
            <a:r>
              <a:rPr lang="en-US" sz="2400" b="1" dirty="0" err="1"/>
              <a:t>Mapbox</a:t>
            </a:r>
            <a:r>
              <a:rPr lang="en-US" sz="2400" b="1" dirty="0"/>
              <a:t> is used for live ambulance tracking, radius detection, and route visualization. </a:t>
            </a:r>
          </a:p>
          <a:p>
            <a:pPr>
              <a:buFont typeface="Arial" panose="020B0604020202020204" pitchFamily="34" charset="0"/>
              <a:buChar char="•"/>
            </a:pPr>
            <a:endParaRPr lang="en-US" sz="2400" b="1" dirty="0"/>
          </a:p>
          <a:p>
            <a:pPr>
              <a:buFont typeface="Arial" panose="020B0604020202020204" pitchFamily="34" charset="0"/>
              <a:buChar char="•"/>
            </a:pPr>
            <a:r>
              <a:rPr lang="en-US" sz="2400" b="1" dirty="0"/>
              <a:t>Twilio API is used for emergency calling, hospital notifications, and communication services. </a:t>
            </a:r>
          </a:p>
          <a:p>
            <a:pPr>
              <a:buFont typeface="Arial" panose="020B0604020202020204" pitchFamily="34" charset="0"/>
              <a:buChar char="•"/>
            </a:pPr>
            <a:endParaRPr lang="en-US" sz="2400" b="1" dirty="0"/>
          </a:p>
          <a:p>
            <a:pPr>
              <a:buFont typeface="Arial" panose="020B0604020202020204" pitchFamily="34" charset="0"/>
              <a:buChar char="•"/>
            </a:pPr>
            <a:r>
              <a:rPr lang="en-US" sz="2400" b="1" dirty="0"/>
              <a:t>Recharts and Three.js are used for real-time analytics, dashboard visualization, and quantum optimization display.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8288000" cy="10287000"/>
          </a:xfrm>
          <a:prstGeom prst="rect">
            <a:avLst/>
          </a:prstGeom>
        </p:spPr>
      </p:pic>
      <p:sp>
        <p:nvSpPr>
          <p:cNvPr id="3" name="object 3"/>
          <p:cNvSpPr txBox="1">
            <a:spLocks noGrp="1"/>
          </p:cNvSpPr>
          <p:nvPr>
            <p:ph type="title"/>
          </p:nvPr>
        </p:nvSpPr>
        <p:spPr>
          <a:xfrm>
            <a:off x="1016000" y="295234"/>
            <a:ext cx="5078095" cy="1747520"/>
          </a:xfrm>
          <a:prstGeom prst="rect">
            <a:avLst/>
          </a:prstGeom>
        </p:spPr>
        <p:txBody>
          <a:bodyPr vert="horz" wrap="square" lIns="0" tIns="12700" rIns="0" bIns="0" rtlCol="0">
            <a:spAutoFit/>
          </a:bodyPr>
          <a:lstStyle/>
          <a:p>
            <a:pPr marL="12700">
              <a:lnSpc>
                <a:spcPct val="100000"/>
              </a:lnSpc>
              <a:spcBef>
                <a:spcPts val="100"/>
              </a:spcBef>
            </a:pPr>
            <a:r>
              <a:rPr sz="11300" spc="515" dirty="0"/>
              <a:t>Impact</a:t>
            </a:r>
            <a:endParaRPr sz="11300" dirty="0"/>
          </a:p>
        </p:txBody>
      </p:sp>
      <p:sp>
        <p:nvSpPr>
          <p:cNvPr id="4" name="object 4"/>
          <p:cNvSpPr txBox="1"/>
          <p:nvPr/>
        </p:nvSpPr>
        <p:spPr>
          <a:xfrm rot="300000">
            <a:off x="13863444" y="823583"/>
            <a:ext cx="3599336" cy="406400"/>
          </a:xfrm>
          <a:prstGeom prst="rect">
            <a:avLst/>
          </a:prstGeom>
        </p:spPr>
        <p:txBody>
          <a:bodyPr vert="horz" wrap="square" lIns="0" tIns="0" rIns="0" bIns="0" rtlCol="0">
            <a:spAutoFit/>
          </a:bodyPr>
          <a:lstStyle/>
          <a:p>
            <a:pPr>
              <a:lnSpc>
                <a:spcPts val="3185"/>
              </a:lnSpc>
            </a:pPr>
            <a:r>
              <a:rPr sz="4800" b="1" spc="359" baseline="3472" dirty="0">
                <a:solidFill>
                  <a:srgbClr val="201D1D"/>
                </a:solidFill>
                <a:latin typeface="Trebuchet MS"/>
                <a:cs typeface="Trebuchet MS"/>
              </a:rPr>
              <a:t>HO</a:t>
            </a:r>
            <a:r>
              <a:rPr sz="4800" b="1" spc="359" baseline="2604" dirty="0">
                <a:solidFill>
                  <a:srgbClr val="201D1D"/>
                </a:solidFill>
                <a:latin typeface="Trebuchet MS"/>
                <a:cs typeface="Trebuchet MS"/>
              </a:rPr>
              <a:t>W</a:t>
            </a:r>
            <a:r>
              <a:rPr sz="4800" b="1" spc="-577" baseline="2604" dirty="0">
                <a:solidFill>
                  <a:srgbClr val="201D1D"/>
                </a:solidFill>
                <a:latin typeface="Trebuchet MS"/>
                <a:cs typeface="Trebuchet MS"/>
              </a:rPr>
              <a:t> </a:t>
            </a:r>
            <a:r>
              <a:rPr sz="4800" b="1" spc="472" baseline="1736" dirty="0">
                <a:solidFill>
                  <a:srgbClr val="201D1D"/>
                </a:solidFill>
                <a:latin typeface="Trebuchet MS"/>
                <a:cs typeface="Trebuchet MS"/>
              </a:rPr>
              <a:t>D</a:t>
            </a:r>
            <a:r>
              <a:rPr sz="3200" b="1" spc="315" dirty="0">
                <a:solidFill>
                  <a:srgbClr val="201D1D"/>
                </a:solidFill>
                <a:latin typeface="Trebuchet MS"/>
                <a:cs typeface="Trebuchet MS"/>
              </a:rPr>
              <a:t>OES</a:t>
            </a:r>
            <a:r>
              <a:rPr sz="3200" b="1" spc="-385" dirty="0">
                <a:solidFill>
                  <a:srgbClr val="201D1D"/>
                </a:solidFill>
                <a:latin typeface="Trebuchet MS"/>
                <a:cs typeface="Trebuchet MS"/>
              </a:rPr>
              <a:t> </a:t>
            </a:r>
            <a:r>
              <a:rPr sz="3200" b="1" spc="215" dirty="0">
                <a:solidFill>
                  <a:srgbClr val="201D1D"/>
                </a:solidFill>
                <a:latin typeface="Trebuchet MS"/>
                <a:cs typeface="Trebuchet MS"/>
              </a:rPr>
              <a:t>YO</a:t>
            </a:r>
            <a:r>
              <a:rPr sz="4800" b="1" spc="322" baseline="-1736" dirty="0">
                <a:solidFill>
                  <a:srgbClr val="201D1D"/>
                </a:solidFill>
                <a:latin typeface="Trebuchet MS"/>
                <a:cs typeface="Trebuchet MS"/>
              </a:rPr>
              <a:t>U</a:t>
            </a:r>
            <a:r>
              <a:rPr sz="4800" b="1" spc="322" baseline="-2604" dirty="0">
                <a:solidFill>
                  <a:srgbClr val="201D1D"/>
                </a:solidFill>
                <a:latin typeface="Trebuchet MS"/>
                <a:cs typeface="Trebuchet MS"/>
              </a:rPr>
              <a:t>R</a:t>
            </a:r>
            <a:endParaRPr sz="4800" baseline="-2604" dirty="0">
              <a:latin typeface="Trebuchet MS"/>
              <a:cs typeface="Trebuchet MS"/>
            </a:endParaRPr>
          </a:p>
        </p:txBody>
      </p:sp>
      <p:sp>
        <p:nvSpPr>
          <p:cNvPr id="5" name="object 5"/>
          <p:cNvSpPr txBox="1"/>
          <p:nvPr/>
        </p:nvSpPr>
        <p:spPr>
          <a:xfrm rot="300000">
            <a:off x="13430223" y="1344530"/>
            <a:ext cx="4483143" cy="406400"/>
          </a:xfrm>
          <a:prstGeom prst="rect">
            <a:avLst/>
          </a:prstGeom>
        </p:spPr>
        <p:txBody>
          <a:bodyPr vert="horz" wrap="square" lIns="0" tIns="0" rIns="0" bIns="0" rtlCol="0">
            <a:spAutoFit/>
          </a:bodyPr>
          <a:lstStyle/>
          <a:p>
            <a:pPr>
              <a:lnSpc>
                <a:spcPts val="2975"/>
              </a:lnSpc>
            </a:pPr>
            <a:r>
              <a:rPr sz="4800" b="1" spc="330" baseline="1736" dirty="0">
                <a:solidFill>
                  <a:srgbClr val="201D1D"/>
                </a:solidFill>
                <a:latin typeface="Trebuchet MS"/>
                <a:cs typeface="Trebuchet MS"/>
              </a:rPr>
              <a:t>I</a:t>
            </a:r>
            <a:r>
              <a:rPr sz="3200" b="1" spc="220" dirty="0">
                <a:solidFill>
                  <a:srgbClr val="201D1D"/>
                </a:solidFill>
                <a:latin typeface="Trebuchet MS"/>
                <a:cs typeface="Trebuchet MS"/>
              </a:rPr>
              <a:t>DEA</a:t>
            </a:r>
            <a:r>
              <a:rPr sz="3200" b="1" spc="-380" dirty="0">
                <a:solidFill>
                  <a:srgbClr val="201D1D"/>
                </a:solidFill>
                <a:latin typeface="Trebuchet MS"/>
                <a:cs typeface="Trebuchet MS"/>
              </a:rPr>
              <a:t> </a:t>
            </a:r>
            <a:r>
              <a:rPr sz="3200" b="1" spc="220" dirty="0">
                <a:solidFill>
                  <a:srgbClr val="201D1D"/>
                </a:solidFill>
                <a:latin typeface="Trebuchet MS"/>
                <a:cs typeface="Trebuchet MS"/>
              </a:rPr>
              <a:t>CR</a:t>
            </a:r>
            <a:r>
              <a:rPr sz="4800" b="1" spc="330" baseline="-1736" dirty="0">
                <a:solidFill>
                  <a:srgbClr val="201D1D"/>
                </a:solidFill>
                <a:latin typeface="Trebuchet MS"/>
                <a:cs typeface="Trebuchet MS"/>
              </a:rPr>
              <a:t>E</a:t>
            </a:r>
            <a:r>
              <a:rPr sz="4800" b="1" spc="330" baseline="-2604" dirty="0">
                <a:solidFill>
                  <a:srgbClr val="201D1D"/>
                </a:solidFill>
                <a:latin typeface="Trebuchet MS"/>
                <a:cs typeface="Trebuchet MS"/>
              </a:rPr>
              <a:t>AT</a:t>
            </a:r>
            <a:r>
              <a:rPr sz="4800" b="1" spc="330" baseline="-3472" dirty="0">
                <a:solidFill>
                  <a:srgbClr val="201D1D"/>
                </a:solidFill>
                <a:latin typeface="Trebuchet MS"/>
                <a:cs typeface="Trebuchet MS"/>
              </a:rPr>
              <a:t>E</a:t>
            </a:r>
            <a:r>
              <a:rPr sz="4800" b="1" spc="-569" baseline="-3472" dirty="0">
                <a:solidFill>
                  <a:srgbClr val="201D1D"/>
                </a:solidFill>
                <a:latin typeface="Trebuchet MS"/>
                <a:cs typeface="Trebuchet MS"/>
              </a:rPr>
              <a:t> </a:t>
            </a:r>
            <a:r>
              <a:rPr sz="4800" b="1" spc="292" baseline="-4340" dirty="0">
                <a:solidFill>
                  <a:srgbClr val="201D1D"/>
                </a:solidFill>
                <a:latin typeface="Trebuchet MS"/>
                <a:cs typeface="Trebuchet MS"/>
              </a:rPr>
              <a:t>VA</a:t>
            </a:r>
            <a:r>
              <a:rPr sz="4800" b="1" spc="292" baseline="-5208" dirty="0">
                <a:solidFill>
                  <a:srgbClr val="201D1D"/>
                </a:solidFill>
                <a:latin typeface="Trebuchet MS"/>
                <a:cs typeface="Trebuchet MS"/>
              </a:rPr>
              <a:t>LU</a:t>
            </a:r>
            <a:r>
              <a:rPr sz="4800" b="1" spc="292" baseline="-6076" dirty="0">
                <a:solidFill>
                  <a:srgbClr val="201D1D"/>
                </a:solidFill>
                <a:latin typeface="Trebuchet MS"/>
                <a:cs typeface="Trebuchet MS"/>
              </a:rPr>
              <a:t>E</a:t>
            </a:r>
            <a:r>
              <a:rPr sz="4800" b="1" spc="292" baseline="-6944" dirty="0">
                <a:solidFill>
                  <a:srgbClr val="201D1D"/>
                </a:solidFill>
                <a:latin typeface="Trebuchet MS"/>
                <a:cs typeface="Trebuchet MS"/>
              </a:rPr>
              <a:t>?</a:t>
            </a:r>
            <a:endParaRPr sz="4800" baseline="-6944" dirty="0">
              <a:latin typeface="Trebuchet MS"/>
              <a:cs typeface="Trebuchet MS"/>
            </a:endParaRPr>
          </a:p>
        </p:txBody>
      </p:sp>
      <p:sp>
        <p:nvSpPr>
          <p:cNvPr id="8" name="TextBox 7">
            <a:extLst>
              <a:ext uri="{FF2B5EF4-FFF2-40B4-BE49-F238E27FC236}">
                <a16:creationId xmlns:a16="http://schemas.microsoft.com/office/drawing/2014/main" id="{84EDB532-C6FC-A7EC-78F4-A2ED7E50794A}"/>
              </a:ext>
            </a:extLst>
          </p:cNvPr>
          <p:cNvSpPr txBox="1"/>
          <p:nvPr/>
        </p:nvSpPr>
        <p:spPr>
          <a:xfrm>
            <a:off x="654872" y="3656498"/>
            <a:ext cx="16818770" cy="5016758"/>
          </a:xfrm>
          <a:prstGeom prst="rect">
            <a:avLst/>
          </a:prstGeom>
          <a:noFill/>
        </p:spPr>
        <p:txBody>
          <a:bodyPr wrap="square">
            <a:spAutoFit/>
          </a:bodyPr>
          <a:lstStyle/>
          <a:p>
            <a:pPr algn="ctr">
              <a:buNone/>
            </a:pPr>
            <a:r>
              <a:rPr lang="en-US" sz="3200" b="1" i="1" dirty="0"/>
              <a:t>Our system creates a faster, smarter, and more efficient emergency healthcare ecosystem by improving coordination between patients, hospitals, ambulances, police, and healthcare workers. By using quantum-assisted optimization, the platform reduces ambulance response time, minimizes delays caused by traffic congestion, and enables intelligent allocation of ICU beds, doctors, ventilators, and emergency medical resources. Real-time patient vitals transmission allows hospitals to prepare treatment before patient arrival, improving emergency readiness and patient survival chances. The system also helps reduce hospital overload, optimize resource utilization, and support better healthcare accessibility during critical situations, directly contributing to SDG 3 – Good Health &amp; Well-being.</a:t>
            </a:r>
          </a:p>
        </p:txBody>
      </p:sp>
      <p:sp>
        <p:nvSpPr>
          <p:cNvPr id="10" name="TextBox 9">
            <a:extLst>
              <a:ext uri="{FF2B5EF4-FFF2-40B4-BE49-F238E27FC236}">
                <a16:creationId xmlns:a16="http://schemas.microsoft.com/office/drawing/2014/main" id="{5B446D6C-E6B9-230C-26FA-756C042F4D47}"/>
              </a:ext>
            </a:extLst>
          </p:cNvPr>
          <p:cNvSpPr txBox="1"/>
          <p:nvPr/>
        </p:nvSpPr>
        <p:spPr>
          <a:xfrm>
            <a:off x="2438400" y="2053566"/>
            <a:ext cx="15671800" cy="1569660"/>
          </a:xfrm>
          <a:prstGeom prst="rect">
            <a:avLst/>
          </a:prstGeom>
          <a:noFill/>
        </p:spPr>
        <p:txBody>
          <a:bodyPr wrap="square">
            <a:spAutoFit/>
          </a:bodyPr>
          <a:lstStyle/>
          <a:p>
            <a:pPr>
              <a:buNone/>
            </a:pPr>
            <a:r>
              <a:rPr lang="en-US" sz="4800" b="1" dirty="0"/>
              <a:t>“Where Quantum Intelligence Meets Emergency Healthcare to Save Lives in Real Time”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8288000" cy="10287000"/>
            <a:chOff x="0" y="0"/>
            <a:chExt cx="18288000" cy="10287000"/>
          </a:xfrm>
        </p:grpSpPr>
        <p:pic>
          <p:nvPicPr>
            <p:cNvPr id="3" name="object 3"/>
            <p:cNvPicPr/>
            <p:nvPr/>
          </p:nvPicPr>
          <p:blipFill>
            <a:blip r:embed="rId2" cstate="print"/>
            <a:stretch>
              <a:fillRect/>
            </a:stretch>
          </p:blipFill>
          <p:spPr>
            <a:xfrm>
              <a:off x="0" y="0"/>
              <a:ext cx="18288000" cy="10287000"/>
            </a:xfrm>
            <a:prstGeom prst="rect">
              <a:avLst/>
            </a:prstGeom>
          </p:spPr>
        </p:pic>
        <p:pic>
          <p:nvPicPr>
            <p:cNvPr id="4" name="object 4"/>
            <p:cNvPicPr/>
            <p:nvPr/>
          </p:nvPicPr>
          <p:blipFill>
            <a:blip r:embed="rId3" cstate="print"/>
            <a:stretch>
              <a:fillRect/>
            </a:stretch>
          </p:blipFill>
          <p:spPr>
            <a:xfrm>
              <a:off x="8405212" y="370931"/>
              <a:ext cx="1474661" cy="1419224"/>
            </a:xfrm>
            <a:prstGeom prst="rect">
              <a:avLst/>
            </a:prstGeom>
          </p:spPr>
        </p:pic>
      </p:grpSp>
      <p:pic>
        <p:nvPicPr>
          <p:cNvPr id="5" name="object 5"/>
          <p:cNvPicPr/>
          <p:nvPr/>
        </p:nvPicPr>
        <p:blipFill>
          <a:blip r:embed="rId4" cstate="print"/>
          <a:stretch>
            <a:fillRect/>
          </a:stretch>
        </p:blipFill>
        <p:spPr>
          <a:xfrm>
            <a:off x="-1458" y="1"/>
            <a:ext cx="18288000" cy="10286999"/>
          </a:xfrm>
          <a:prstGeom prst="rect">
            <a:avLst/>
          </a:prstGeom>
        </p:spPr>
      </p:pic>
      <p:sp>
        <p:nvSpPr>
          <p:cNvPr id="6" name="object 6"/>
          <p:cNvSpPr txBox="1"/>
          <p:nvPr/>
        </p:nvSpPr>
        <p:spPr>
          <a:xfrm>
            <a:off x="8542548" y="1720373"/>
            <a:ext cx="1276985" cy="360680"/>
          </a:xfrm>
          <a:prstGeom prst="rect">
            <a:avLst/>
          </a:prstGeom>
        </p:spPr>
        <p:txBody>
          <a:bodyPr vert="horz" wrap="square" lIns="0" tIns="12700" rIns="0" bIns="0" rtlCol="0">
            <a:spAutoFit/>
          </a:bodyPr>
          <a:lstStyle/>
          <a:p>
            <a:pPr marL="12700">
              <a:lnSpc>
                <a:spcPct val="100000"/>
              </a:lnSpc>
              <a:spcBef>
                <a:spcPts val="100"/>
              </a:spcBef>
            </a:pPr>
            <a:r>
              <a:rPr sz="2200" spc="-10" dirty="0">
                <a:solidFill>
                  <a:srgbClr val="201D1D"/>
                </a:solidFill>
                <a:latin typeface="Lucida Sans Unicode"/>
                <a:cs typeface="Lucida Sans Unicode"/>
              </a:rPr>
              <a:t>Athernex</a:t>
            </a:r>
            <a:endParaRPr sz="2200">
              <a:latin typeface="Lucida Sans Unicode"/>
              <a:cs typeface="Lucida Sans Unicode"/>
            </a:endParaRPr>
          </a:p>
        </p:txBody>
      </p:sp>
      <p:sp>
        <p:nvSpPr>
          <p:cNvPr id="7" name="object 7"/>
          <p:cNvSpPr txBox="1">
            <a:spLocks noGrp="1"/>
          </p:cNvSpPr>
          <p:nvPr>
            <p:ph type="title"/>
          </p:nvPr>
        </p:nvSpPr>
        <p:spPr>
          <a:xfrm>
            <a:off x="3527612" y="2595250"/>
            <a:ext cx="11946890" cy="2847975"/>
          </a:xfrm>
          <a:prstGeom prst="rect">
            <a:avLst/>
          </a:prstGeom>
        </p:spPr>
        <p:txBody>
          <a:bodyPr vert="horz" wrap="square" lIns="0" tIns="15240" rIns="0" bIns="0" rtlCol="0">
            <a:spAutoFit/>
          </a:bodyPr>
          <a:lstStyle/>
          <a:p>
            <a:pPr marL="12700">
              <a:lnSpc>
                <a:spcPct val="100000"/>
              </a:lnSpc>
              <a:spcBef>
                <a:spcPts val="120"/>
              </a:spcBef>
            </a:pPr>
            <a:r>
              <a:rPr sz="18500" spc="80" dirty="0"/>
              <a:t>Thank</a:t>
            </a:r>
            <a:r>
              <a:rPr sz="18500" spc="-1040" dirty="0"/>
              <a:t> </a:t>
            </a:r>
            <a:r>
              <a:rPr sz="18500" spc="-25" dirty="0"/>
              <a:t>You</a:t>
            </a:r>
            <a:endParaRPr sz="18500"/>
          </a:p>
        </p:txBody>
      </p:sp>
      <p:sp>
        <p:nvSpPr>
          <p:cNvPr id="8" name="object 8"/>
          <p:cNvSpPr txBox="1"/>
          <p:nvPr/>
        </p:nvSpPr>
        <p:spPr>
          <a:xfrm>
            <a:off x="4270264" y="7129150"/>
            <a:ext cx="9971405" cy="2847975"/>
          </a:xfrm>
          <a:prstGeom prst="rect">
            <a:avLst/>
          </a:prstGeom>
        </p:spPr>
        <p:txBody>
          <a:bodyPr vert="horz" wrap="square" lIns="0" tIns="14604" rIns="0" bIns="0" rtlCol="0">
            <a:spAutoFit/>
          </a:bodyPr>
          <a:lstStyle/>
          <a:p>
            <a:pPr marL="12700">
              <a:lnSpc>
                <a:spcPct val="100000"/>
              </a:lnSpc>
              <a:spcBef>
                <a:spcPts val="114"/>
              </a:spcBef>
            </a:pPr>
            <a:r>
              <a:rPr sz="18500" b="1" dirty="0">
                <a:solidFill>
                  <a:srgbClr val="201D1D"/>
                </a:solidFill>
                <a:latin typeface="Arial"/>
                <a:cs typeface="Arial"/>
              </a:rPr>
              <a:t>So</a:t>
            </a:r>
            <a:r>
              <a:rPr sz="18500" b="1" spc="-1055" dirty="0">
                <a:solidFill>
                  <a:srgbClr val="201D1D"/>
                </a:solidFill>
                <a:latin typeface="Arial"/>
                <a:cs typeface="Arial"/>
              </a:rPr>
              <a:t> </a:t>
            </a:r>
            <a:r>
              <a:rPr sz="18500" b="1" spc="434" dirty="0">
                <a:solidFill>
                  <a:srgbClr val="201D1D"/>
                </a:solidFill>
                <a:latin typeface="Arial"/>
                <a:cs typeface="Arial"/>
              </a:rPr>
              <a:t>Much</a:t>
            </a:r>
            <a:endParaRPr sz="18500">
              <a:latin typeface="Arial"/>
              <a:cs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308</TotalTime>
  <Words>516</Words>
  <Application>Microsoft Office PowerPoint</Application>
  <PresentationFormat>Custom</PresentationFormat>
  <Paragraphs>38</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Lucida Sans Unicode</vt:lpstr>
      <vt:lpstr>Trebuchet MS</vt:lpstr>
      <vt:lpstr>Verdana</vt:lpstr>
      <vt:lpstr>Office Theme</vt:lpstr>
      <vt:lpstr>Problem Statement</vt:lpstr>
      <vt:lpstr>Solution</vt:lpstr>
      <vt:lpstr>Features</vt:lpstr>
      <vt:lpstr>Flow Chart</vt:lpstr>
      <vt:lpstr>Tech Stack</vt:lpstr>
      <vt:lpstr>Impact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Athernex Participant PPT.pdf</dc:title>
  <dc:creator>DHANUSH K S</dc:creator>
  <cp:keywords>DAHG7fpkEKA,BAHETSebSqI,0</cp:keywords>
  <cp:lastModifiedBy>DHANUSH K S</cp:lastModifiedBy>
  <cp:revision>1</cp:revision>
  <dcterms:created xsi:type="dcterms:W3CDTF">2026-05-23T07:26:00Z</dcterms:created>
  <dcterms:modified xsi:type="dcterms:W3CDTF">2026-05-23T12:39:48Z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2026-04-15T00:00:00Z</vt:filetime>
  </property>
  <property fmtid="{D5CDD505-2E9C-101B-9397-08002B2CF9AE}" pid="3" name="Creator">
    <vt:lpwstr>Canva</vt:lpwstr>
  </property>
  <property fmtid="{D5CDD505-2E9C-101B-9397-08002B2CF9AE}" pid="4" name="LastSaved">
    <vt:filetime>2026-05-23T00:00:00Z</vt:filetime>
  </property>
  <property fmtid="{D5CDD505-2E9C-101B-9397-08002B2CF9AE}" pid="5" name="Producer">
    <vt:lpwstr>iLovePDF</vt:lpwstr>
  </property>
</Properties>
</file>